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embeddedFontLst>
    <p:embeddedFont>
      <p:font charset="0" panose="00000700000000000000" pitchFamily="2" typeface="Poppins SemiBold"/>
      <p:regular r:id="rId16"/>
      <p:bold r:id="rId17"/>
      <p:italic r:id="rId18"/>
      <p:boldItalic r:id="rId19"/>
    </p:embeddedFont>
    <p:embeddedFont>
      <p:font charset="0" panose="02000000000000000000" pitchFamily="2" typeface="Roboto"/>
      <p:regular r:id="rId20"/>
      <p:bold r:id="rId21"/>
      <p:italic r:id="rId22"/>
      <p:boldItalic r:id="rId23"/>
    </p:embeddedFont>
    <p:embeddedFont>
      <p:font charset="0" panose="02000000000000000000" pitchFamily="2" typeface="Roboto Medium"/>
      <p:regular r:id="rId24"/>
      <p:italic r:id="rId25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469"/>
    <a:srgbClr val="ED6B2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9799"/>
    <p:restoredTop sz="94694"/>
  </p:normalViewPr>
  <p:slideViewPr>
    <p:cSldViewPr snapToGrid="0">
      <p:cViewPr varScale="1">
        <p:scale>
          <a:sx d="100" n="76"/>
          <a:sy d="100" n="76"/>
        </p:scale>
        <p:origin x="102" y="300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200"/>
        <a:sy d="100" n="2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7" Type="http://schemas.openxmlformats.org/officeDocument/2006/relationships/font" Target="fonts/font2.fntdata" /><Relationship Id="rId22" Type="http://schemas.openxmlformats.org/officeDocument/2006/relationships/font" Target="fonts/font7.fntdata" /><Relationship Id="rId27" Type="http://schemas.openxmlformats.org/officeDocument/2006/relationships/viewProps" Target="viewProps.xml" /><Relationship Id="rId3" Type="http://schemas.openxmlformats.org/officeDocument/2006/relationships/customXml" Target="../customXml/item3.xml" /><Relationship Id="rId30" Type="http://schemas.microsoft.com/office/2016/11/relationships/changesInfo" Target="changesInfos/changesInfo1.xml" /><Relationship Id="rId16" Type="http://schemas.openxmlformats.org/officeDocument/2006/relationships/font" Target="fonts/font1.fntdata" /><Relationship Id="rId21" Type="http://schemas.openxmlformats.org/officeDocument/2006/relationships/font" Target="fonts/font6.fntdata" /><Relationship Id="rId26" Type="http://schemas.openxmlformats.org/officeDocument/2006/relationships/presProps" Target="presProps.xml" /><Relationship Id="rId2" Type="http://schemas.openxmlformats.org/officeDocument/2006/relationships/customXml" Target="../customXml/item2.xml" /><Relationship Id="rId25" Type="http://schemas.openxmlformats.org/officeDocument/2006/relationships/font" Target="fonts/font10.fntdata" /><Relationship Id="rId29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20" Type="http://schemas.openxmlformats.org/officeDocument/2006/relationships/font" Target="fonts/font5.fntdata" /><Relationship Id="rId24" Type="http://schemas.openxmlformats.org/officeDocument/2006/relationships/font" Target="fonts/font9.fntdata" /><Relationship Id="rId19" Type="http://schemas.openxmlformats.org/officeDocument/2006/relationships/font" Target="fonts/font4.fntdata" /><Relationship Id="rId28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18" Type="http://schemas.openxmlformats.org/officeDocument/2006/relationships/font" Target="fonts/font3.fntdata" /><Relationship Id="rId23" Type="http://schemas.openxmlformats.org/officeDocument/2006/relationships/font" Target="fonts/font8.fntdata" /><Relationship Id="rId31" Type="http://schemas.microsoft.com/office/2015/10/relationships/revisionInfo" Target="revisionInfo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orse racing with jockeys on the back&#10;&#10;Description automatically generated">
            <a:extLst>
              <a:ext uri="{FF2B5EF4-FFF2-40B4-BE49-F238E27FC236}">
                <a16:creationId xmlns:a16="http://schemas.microsoft.com/office/drawing/2014/main" id="{B8961785-39F5-A5E4-79C0-FB30447F5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3442059-D605-7083-10AC-294F34D06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5769" y="2433756"/>
            <a:ext cx="4740231" cy="9952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 anchor="t">
            <a:normAutofit/>
          </a:bodyPr>
          <a:lstStyle>
            <a:lvl1pPr algn="l">
              <a:defRPr sz="3600" b="0">
                <a:solidFill>
                  <a:srgbClr val="E7E469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26BFAE-4619-2DFB-9738-ACA81696D55B}"/>
              </a:ext>
            </a:extLst>
          </p:cNvPr>
          <p:cNvCxnSpPr>
            <a:cxnSpLocks/>
          </p:cNvCxnSpPr>
          <p:nvPr userDrawn="1"/>
        </p:nvCxnSpPr>
        <p:spPr>
          <a:xfrm>
            <a:off x="1480930" y="3677479"/>
            <a:ext cx="0" cy="2474843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8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0B67F-175B-E81F-AF60-6EE9E751E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32C7EB-3EF7-3BED-DC71-B05C5A7E2B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E7E469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3999-6E02-7D7F-37F2-5ACAF995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5" y="3839369"/>
            <a:ext cx="57746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8BA9CBD-3650-E2EC-2E96-8FF782EA5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078" y="5647664"/>
            <a:ext cx="3230428" cy="6782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F92CA-0C65-5920-0F97-CD42BE0CDC7C}"/>
              </a:ext>
            </a:extLst>
          </p:cNvPr>
          <p:cNvCxnSpPr>
            <a:cxnSpLocks/>
          </p:cNvCxnSpPr>
          <p:nvPr userDrawn="1"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6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03D8-8EBA-EBB3-9536-BAC84C7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000B-6273-9FFA-5820-ABFB440AE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6965-FADB-2F38-59E3-F998718D3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F765-6007-A3C8-81A7-E2E9800C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B8D6B-59AD-5F49-88F2-F05FF881E42C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7E31-16CC-9C41-13C8-12A42DF9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B60FA-9475-F678-8DF7-43CAA56D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CFB-F3FF-C35B-F1DC-6FF2D6C6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2F02C-BB29-9B11-6D90-DC023349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C351-79C0-E4F8-8674-0FF97F8A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B873-9898-8774-9031-B73E4081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F05FF-B39E-55F4-E948-2EDF1AD6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38F23-E96C-33AD-50F4-3E9CA1DA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3BE951-47DE-5548-93C6-D8A56BB295CA}" type="datetime1">
              <a:rPr lang="en-GB" smtClean="0"/>
              <a:t>17/03/2025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21717-5B9E-2513-F780-AD28533B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3C423-D885-D5EE-5026-84F1812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005-3A80-54DE-5949-3486224E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E749-DFE8-6894-0232-3C4E1AD5E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E953-98EF-1DCC-FF99-1D54F603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AE77C-00C2-5386-DC36-4537805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A4FAC-80D4-864D-9EE6-C0D785556090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48F5-2502-4244-2BAD-B0AACD0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A8168-70C9-2B08-4D81-F9E3D9A5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6CEC6D-80A9-23B2-4CF5-C2F585019A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7174" y="2931649"/>
            <a:ext cx="4737652" cy="9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3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7EA6-3A8F-357B-534D-3A1AFF50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media/image1.jp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5FC82-3682-877D-08D6-C57CE93DE77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t="22283"/>
          <a:stretch/>
        </p:blipFill>
        <p:spPr>
          <a:xfrm>
            <a:off x="0" y="6176962"/>
            <a:ext cx="12192000" cy="6810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EA68D-A9F4-CD17-CAB6-B58C8F9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92D67-BD2A-6CD0-713E-4AA4124062F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380468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07B9-9330-3BAC-943C-619C8143CA6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9269E451-5AEB-FC4A-BCCF-1F96761DF371}" type="datetime1">
              <a:rPr lang="en-GB" smtClean="0"/>
              <a:t>17/03/2025</a:t>
            </a:fld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5860-0624-DF6A-531C-2D528A0262E0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2A62-0988-BF3C-F527-2442AA889CBD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57B9ED84-8EE0-E941-B546-0ADBCA54B8B6}" type="slidenum">
              <a:rPr lang="en-US" smtClean="0"/>
              <a:pPr/>
              <a:t>‹#›</a:t>
            </a:fld>
            <a:endParaRPr dirty="0" lang="en-US"/>
          </a:p>
        </p:txBody>
      </p:sp>
      <p:pic>
        <p:nvPicPr>
          <p:cNvPr descr="A white text on a black background  Description automatically generated" id="8" name="Picture 7">
            <a:extLst>
              <a:ext uri="{FF2B5EF4-FFF2-40B4-BE49-F238E27FC236}">
                <a16:creationId xmlns:a16="http://schemas.microsoft.com/office/drawing/2014/main" id="{74529E3F-E853-A2FC-88BE-2CA3666B0BF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37913" y="6337115"/>
            <a:ext cx="1673087" cy="3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370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9" r:id="rId1"/>
    <p:sldLayoutId id="2147483651" r:id="rId2"/>
    <p:sldLayoutId id="2147483652" r:id="rId3"/>
    <p:sldLayoutId id="2147483653" r:id="rId4"/>
    <p:sldLayoutId id="2147483656" r:id="rId5"/>
    <p:sldLayoutId id="2147483649" r:id="rId6"/>
    <p:sldLayoutId id="2147483650" r:id="rId7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i="0" kern="1200" spc="-150" sz="4400">
          <a:solidFill>
            <a:srgbClr val="ED6B2A"/>
          </a:solidFill>
          <a:latin charset="77" pitchFamily="2" typeface="Poppins SemiBold"/>
          <a:ea typeface="+mj-ea"/>
          <a:cs charset="77" pitchFamily="2" typeface="Poppins SemiBold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i="0" kern="1200" sz="2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4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0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6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7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8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9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0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Ascot Racecourse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GoingStick Data
Regulatory Compliance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GoingStick Reporting</a:t>
            </a:r>
          </a:p>
        </p:txBody>
      </p:sp>
      <p:pic>
        <p:nvPicPr>
          <p:cNvPr descr="ascot_update_2026_261001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816100"/>
            <a:ext cx="8343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GoingStick Data
Stats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 Values by Year</a:t>
            </a:r>
          </a:p>
        </p:txBody>
      </p:sp>
      <p:pic>
        <p:nvPicPr>
          <p:cNvPr descr="ascot_update_2026_261001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03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 Course Zones</a:t>
            </a:r>
          </a:p>
        </p:txBody>
      </p:sp>
      <p:pic>
        <p:nvPicPr>
          <p:cNvPr descr="../data/ascot_flat_course_zo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816100"/>
            <a:ext cx="64262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 GS Index by Track Section</a:t>
            </a:r>
          </a:p>
        </p:txBody>
      </p:sp>
      <p:pic>
        <p:nvPicPr>
          <p:cNvPr descr="ascot_update_2026_261001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816100"/>
            <a:ext cx="9613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 Values by Official Going</a:t>
            </a:r>
          </a:p>
        </p:txBody>
      </p:sp>
      <p:pic>
        <p:nvPicPr>
          <p:cNvPr descr="ascot_update_2026_261001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Penetration Values by Official Going</a:t>
            </a:r>
          </a:p>
        </p:txBody>
      </p:sp>
      <p:pic>
        <p:nvPicPr>
          <p:cNvPr descr="ascot_update_2026_261001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Shear Values by Official Going</a:t>
            </a:r>
          </a:p>
        </p:txBody>
      </p:sp>
      <p:pic>
        <p:nvPicPr>
          <p:cNvPr descr="ascot_update_2026_261001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GS Shear</a:t>
            </a:r>
          </a:p>
        </p:txBody>
      </p:sp>
      <p:pic>
        <p:nvPicPr>
          <p:cNvPr descr="ascot_update_2026_261001_files/figure-pptx/cell-9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816100"/>
            <a:ext cx="8978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Poppins SemiBold</vt:lpstr>
      <vt:lpstr>Arial</vt:lpstr>
      <vt:lpstr>Roboto Medium</vt:lpstr>
      <vt:lpstr>Roboto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Ascot Racecourse</dc:title>
  <dc:creator/>
  <cp:keywords/>
  <dcterms:created xsi:type="dcterms:W3CDTF">2026-10-01T06:58:35Z</dcterms:created>
  <dcterms:modified xsi:type="dcterms:W3CDTF">2026-10-01T06:58:35Z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jupyter">
    <vt:lpwstr>python3</vt:lpwstr>
  </property>
  <property fmtid="{D5CDD505-2E9C-101B-9397-08002B2CF9AE}" pid="8" name="labels">
    <vt:lpwstr/>
  </property>
  <property fmtid="{D5CDD505-2E9C-101B-9397-08002B2CF9AE}" pid="9" name="slide-number">
    <vt:lpwstr>True</vt:lpwstr>
  </property>
  <property fmtid="{D5CDD505-2E9C-101B-9397-08002B2CF9AE}" pid="10" name="toc-title">
    <vt:lpwstr>Table of contents</vt:lpwstr>
  </property>
</Properties>
</file>