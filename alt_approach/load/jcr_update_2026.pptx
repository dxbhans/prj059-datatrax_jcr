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embedTrueType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charset="0" panose="00000700000000000000" pitchFamily="2" typeface="Poppins SemiBold"/>
      <p:regular r:id="rId14"/>
      <p:bold r:id="rId15"/>
      <p:italic r:id="rId16"/>
      <p:boldItalic r:id="rId17"/>
    </p:embeddedFont>
    <p:embeddedFont>
      <p:font charset="0" panose="02000000000000000000" pitchFamily="2" typeface="Roboto"/>
      <p:regular r:id="rId18"/>
      <p:bold r:id="rId19"/>
      <p:italic r:id="rId20"/>
      <p:boldItalic r:id="rId21"/>
    </p:embeddedFont>
    <p:embeddedFont>
      <p:font charset="0" panose="02000000000000000000" pitchFamily="2" typeface="Roboto Medium"/>
      <p:regular r:id="rId22"/>
      <p:italic r:id="rId23"/>
    </p:embeddedFont>
  </p:embeddedFontLst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469"/>
    <a:srgbClr val="ED6B2A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101"/>
          <a:sy d="100" n="101"/>
        </p:scale>
        <p:origin x="156" y="10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font" Target="fonts/font1.fntdata" /><Relationship Id="rId19" Type="http://schemas.openxmlformats.org/officeDocument/2006/relationships/font" Target="fonts/font6.fntdata" /><Relationship Id="rId27" Type="http://schemas.openxmlformats.org/officeDocument/2006/relationships/tableStyles" Target="tableStyles.xml" /><Relationship Id="rId3" Type="http://schemas.openxmlformats.org/officeDocument/2006/relationships/customXml" Target="../customXml/item3.xml" /><Relationship Id="rId22" Type="http://schemas.openxmlformats.org/officeDocument/2006/relationships/font" Target="fonts/font9.fntdata" /><Relationship Id="rId18" Type="http://schemas.openxmlformats.org/officeDocument/2006/relationships/font" Target="fonts/font5.fntdata" /><Relationship Id="rId26" Type="http://schemas.openxmlformats.org/officeDocument/2006/relationships/theme" Target="theme/theme1.xml" /><Relationship Id="rId2" Type="http://schemas.openxmlformats.org/officeDocument/2006/relationships/customXml" Target="../customXml/item2.xml" /><Relationship Id="rId17" Type="http://schemas.openxmlformats.org/officeDocument/2006/relationships/font" Target="fonts/font4.fntdata" /><Relationship Id="rId21" Type="http://schemas.openxmlformats.org/officeDocument/2006/relationships/font" Target="fonts/font8.fntdata" /><Relationship Id="rId1" Type="http://schemas.openxmlformats.org/officeDocument/2006/relationships/customXml" Target="../customXml/item1.xml" /><Relationship Id="rId25" Type="http://schemas.openxmlformats.org/officeDocument/2006/relationships/viewProps" Target="viewProps.xml" /><Relationship Id="rId16" Type="http://schemas.openxmlformats.org/officeDocument/2006/relationships/font" Target="fonts/font3.fntdata" /><Relationship Id="rId24" Type="http://schemas.openxmlformats.org/officeDocument/2006/relationships/presProps" Target="presProps.xml" /><Relationship Id="rId20" Type="http://schemas.openxmlformats.org/officeDocument/2006/relationships/font" Target="fonts/font7.fntdata" /><Relationship Id="rId4" Type="http://schemas.openxmlformats.org/officeDocument/2006/relationships/slideMaster" Target="slideMasters/slideMaster1.xml" /><Relationship Id="rId15" Type="http://schemas.openxmlformats.org/officeDocument/2006/relationships/font" Target="fonts/font2.fntdata" /><Relationship Id="rId23" Type="http://schemas.openxmlformats.org/officeDocument/2006/relationships/font" Target="fonts/font10.fntdata" /><Relationship Id="rId28" Type="http://schemas.microsoft.com/office/2016/11/relationships/changesInfo" Target="changesInfos/changesInfo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ogo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38CCBE-0DDE-6F14-4F77-7B854FE6C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horse racing with jockeys on the back&#10;&#10;Description automatically generated">
            <a:extLst>
              <a:ext uri="{FF2B5EF4-FFF2-40B4-BE49-F238E27FC236}">
                <a16:creationId xmlns:a16="http://schemas.microsoft.com/office/drawing/2014/main" id="{B8961785-39F5-A5E4-79C0-FB30447F5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93442059-D605-7083-10AC-294F34D06E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5769" y="2433756"/>
            <a:ext cx="4740231" cy="99524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778AA59-AE1E-5CB4-6904-78A7D9EC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712" y="3677479"/>
            <a:ext cx="8988287" cy="2474843"/>
          </a:xfrm>
        </p:spPr>
        <p:txBody>
          <a:bodyPr anchor="t">
            <a:normAutofit/>
          </a:bodyPr>
          <a:lstStyle>
            <a:lvl1pPr algn="l">
              <a:defRPr sz="3600" b="0">
                <a:solidFill>
                  <a:srgbClr val="E7E469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26BFAE-4619-2DFB-9738-ACA81696D55B}"/>
              </a:ext>
            </a:extLst>
          </p:cNvPr>
          <p:cNvCxnSpPr>
            <a:cxnSpLocks/>
          </p:cNvCxnSpPr>
          <p:nvPr userDrawn="1"/>
        </p:nvCxnSpPr>
        <p:spPr>
          <a:xfrm>
            <a:off x="1480930" y="3677479"/>
            <a:ext cx="0" cy="2474843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285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551F-9CF8-2EA3-E894-A43DBAD73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FCED0-0399-0B6B-C5BE-151062CC1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93D1F-73A6-D030-C5A6-A09EFE08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623F96-8AAB-4D4A-8BC0-CE4A60925408}" type="datetime1">
              <a:rPr lang="en-GB" smtClean="0"/>
              <a:t>11/02/2026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AFFC-EDD4-DF4F-7F27-4413893B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46B60-EA8F-F4D3-9085-AE1D8E60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F7EA6-3A8F-357B-534D-3A1AFF507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11/02/2026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7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50B67F-175B-E81F-AF60-6EE9E751EF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E32C7EB-3EF7-3BED-DC71-B05C5A7E2B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 anchor="t">
            <a:normAutofit/>
          </a:bodyPr>
          <a:lstStyle>
            <a:lvl1pPr>
              <a:defRPr sz="3600">
                <a:solidFill>
                  <a:srgbClr val="E7E469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23999-6E02-7D7F-37F2-5ACAF9952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5" y="3839369"/>
            <a:ext cx="577462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0" name="Picture 9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D8BA9CBD-3650-E2EC-2E96-8FF782EA5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8078" y="5647664"/>
            <a:ext cx="3230428" cy="67825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DF92CA-0C65-5920-0F97-CD42BE0CDC7C}"/>
              </a:ext>
            </a:extLst>
          </p:cNvPr>
          <p:cNvCxnSpPr>
            <a:cxnSpLocks/>
          </p:cNvCxnSpPr>
          <p:nvPr userDrawn="1"/>
        </p:nvCxnSpPr>
        <p:spPr>
          <a:xfrm>
            <a:off x="1030628" y="2753139"/>
            <a:ext cx="0" cy="2586417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965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03D8-8EBA-EBB3-9536-BAC84C74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000B-6273-9FFA-5820-ABFB440AE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F6965-FADB-2F38-59E3-F998718D3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9F765-6007-A3C8-81A7-E2E9800C5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B8D6B-59AD-5F49-88F2-F05FF881E42C}" type="datetime1">
              <a:rPr lang="en-GB" smtClean="0"/>
              <a:t>11/02/2026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87E31-16CC-9C41-13C8-12A42DF9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B60FA-9475-F678-8DF7-43CAA56D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00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0CFB-F3FF-C35B-F1DC-6FF2D6C6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2F02C-BB29-9B11-6D90-DC0233490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BC351-79C0-E4F8-8674-0FF97F8A1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9B873-9898-8774-9031-B73E40813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9F05FF-B39E-55F4-E948-2EDF1AD6E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38F23-E96C-33AD-50F4-3E9CA1DA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3BE951-47DE-5548-93C6-D8A56BB295CA}" type="datetime1">
              <a:rPr lang="en-GB" smtClean="0"/>
              <a:t>11/02/2026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21717-5B9E-2513-F780-AD28533B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3C423-D885-D5EE-5026-84F18123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98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08D3F-4AEF-8739-316E-153AAB47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40DEAE-3D03-1AEC-376A-3FEB7F380A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2C737D-1777-6040-8634-9D01F6868502}" type="datetime1">
              <a:rPr lang="en-GB" smtClean="0"/>
              <a:t>11/02/2026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DEFEF-7252-5F52-6F23-31F64D155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80721-AFF2-EDDD-0F4A-AD71E8CD7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F04B0B8-FECE-A9CB-6451-E692DF83E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8"/>
            <a:ext cx="10514012" cy="4030383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347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E7A58D-8AA2-C7CA-02CA-CC3AA3FF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D65A99-9FD1-3740-8CB6-4504467555D9}" type="datetime1">
              <a:rPr lang="en-GB" smtClean="0"/>
              <a:t>11/02/2026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1C32-B0C9-C8AE-D3C0-14801679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01B25-ED06-2633-DFED-44CE0059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43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6005-3A80-54DE-5949-3486224E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E749-DFE8-6894-0232-3C4E1AD5E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9E953-98EF-1DCC-FF99-1D54F603A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AE77C-00C2-5386-DC36-45378057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0A4FAC-80D4-864D-9EE6-C0D785556090}" type="datetime1">
              <a:rPr lang="en-GB" smtClean="0"/>
              <a:t>11/02/2026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448F5-2502-4244-2BAD-B0AACD09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A8168-70C9-2B08-4D81-F9E3D9A5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4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73E9-7B51-9767-92C5-8B362C57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887A3-6748-DBE6-EEA7-712C02955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D9DEF-C31F-25F1-B72B-ECC352806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D0B00-AD3B-B049-5D8D-0FEC48882D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4BD472-4DF1-764E-8769-CD2413A67EB7}" type="datetime1">
              <a:rPr lang="en-GB" smtClean="0"/>
              <a:t>11/02/2026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828D0-795F-DF02-2F4D-97568F6B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481D0-03A2-CE91-9643-BEA3D91F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0393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jpe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media/image2.pn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D5FC82-3682-877D-08D6-C57CE93DE77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22283"/>
          <a:stretch/>
        </p:blipFill>
        <p:spPr>
          <a:xfrm>
            <a:off x="0" y="6176962"/>
            <a:ext cx="12192000" cy="68103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EA68D-A9F4-CD17-CAB6-B58C8F95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92D67-BD2A-6CD0-713E-4AA4124062F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3804681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A07B9-9330-3BAC-943C-619C8143CA6A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bg1"/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fld id="{9269E451-5AEB-FC4A-BCCF-1F96761DF371}" type="datetime1">
              <a:rPr lang="en-GB" smtClean="0"/>
              <a:t>11/02/2026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B5860-0624-DF6A-531C-2D528A0262E0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bg1"/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72A62-0988-BF3C-F527-2442AA889CBD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fld id="{57B9ED84-8EE0-E941-B546-0ADBCA54B8B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descr="A white text on a black background  Description automatically generated" id="8" name="Picture 7">
            <a:extLst>
              <a:ext uri="{FF2B5EF4-FFF2-40B4-BE49-F238E27FC236}">
                <a16:creationId xmlns:a16="http://schemas.microsoft.com/office/drawing/2014/main" id="{74529E3F-E853-A2FC-88BE-2CA3666B0BF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137913" y="6337115"/>
            <a:ext cx="1673087" cy="35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63703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9" r:id="rId2"/>
    <p:sldLayoutId id="2147483658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i="0" kern="1200" spc="-150" sz="4400">
          <a:solidFill>
            <a:srgbClr val="ED6B2A"/>
          </a:solidFill>
          <a:latin charset="77" pitchFamily="2" typeface="Poppins SemiBold"/>
          <a:ea typeface="+mj-ea"/>
          <a:cs charset="77" pitchFamily="2" typeface="Poppins SemiBold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i="0" kern="1200" sz="2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24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20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1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1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JCR GoingStick Analysis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/>
          <a:lstStyle/>
          <a:p>
            <a:pPr lvl="0" indent="0" marL="0">
              <a:buNone/>
            </a:pPr>
            <a:r>
              <a:rPr/>
              <a:t>JCR GoingStick Data</a:t>
            </a:r>
          </a:p>
        </p:txBody>
      </p:sp>
    </p:spTree>
  </p:cSld>
</p:sld>
</file>

<file path=ppt/slides/slide3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><a:extLst><a:ext uri="{FF2B5EF4-FFF2-40B4-BE49-F238E27FC236}"><a16:creationId id="{DEA36FEF-8166-DFEA-7A16-A210ABE8CD24}" xmlns:a16="http://schemas.microsoft.com/office/drawing/2014/main" /></a:ext></a:extLst></p:cNvPr><p:cNvSpPr><a:spLocks noGrp="1" /></p:cNvSpPr><p:nvPr><p:ph type="title" /></p:nvPr></p:nvSpPr><p:spPr /><p:txBody><a:bodyPr /><a:lstStyle /><a:p><a:pPr lvl="0" indent="0" marL="0"><a:buNone /></a:pPr><a:r><a:rPr /><a:t>Scope and data coverage</a:t></a:r></a:p></p:txBody></p:sp><p:sp><p:nvSpPr><p:cNvPr id="3" name="Content Placeholder 2"><a:extLst><a:ext uri="{FF2B5EF4-FFF2-40B4-BE49-F238E27FC236}"><a16:creationId id="{02CF7EA6-3A8F-357B-534D-3A1AFF5072A5}" xmlns:a16="http://schemas.microsoft.com/office/drawing/2014/main" /></a:ext></a:extLst></p:cNvPr><p:cNvSpPr><a:spLocks noGrp="1" /></p:cNvSpPr><p:nvPr><p:ph idx="1" /></p:nvPr></p:nvSpPr><p:spPr /><p:txBody><a:bodyPr /><a:lstStyle /><a:p><a:pPr lvl="0" indent="0"><a:buNone /></a:pPr><a:r><a:rPr><a:latin typeface="Courier" /></a:rPr><a:t>Scope: Cheltenham | courses=1, maps=20, reports=1424, readings=1921</a:t></a:r></a:p><a:p><a:pPr lvl="0" indent="0"><a:buNone /></a:pPr><a:r><a:rPr><a:latin typeface="Courier" /></a:rPr><a:t>KeyError: &quot;Label(s) [&#39;race_day_goingstick_uploaded&#39;] do not exist&quot;
[31m---------------------------------------------------------------------------[39m
[31mKeyError[39m                                  Traceback (most recent call last)
[36mCell[39m[36m [39m[32mIn[2][39m[32m, line 9[39m
[32m      5[39m print(f&quot;Scope: {report_title} | courses={course_count}, maps={map_count}, reports={report_count}, readings={reading_count}&quot;)
[32m      6[39m 
[32m      7[39m coverage = (
[32m      8[39m     meetings.groupby([[33m&quot;course_id&quot;[39m, [33m&quot;course_name&quot;[39m], dropna=[38;5;28;01mFalse[39;00m)
[32m----&gt; [39m[32m9[39m     .agg(
[32m     10[39m         meetings=([33m&quot;race_date&quot;[39m, [33m&quot;nunique&quot;[39m),
[32m     11[39m         reports=([33m&quot;going_report_count&quot;[39m, [33m&quot;sum&quot;[39m),
[32m     12[39m         going_reported=([33m&quot;official_going_reported&quot;[39m, [33m&quot;sum&quot;[39m),

[36mFile [39m[32m~/Projects/prj059-datatrax_jcr/.venv/lib/python3.13/site-packages/pandas/core/groupby/generic.py:2291[39m, in [36mDataFrameGroupBy.aggregate[39m[34m(self, func, engine, engine_kwargs, *args, **kwargs)[39m
[32m   2288[39m     kwargs[[33m&quot;[39m[33mengine_kwargs[39m[33m&quot;[39m] = engine_kwargs
[32m   2290[39m op = GroupByApply([38;5;28mself[39m, func, args=args, kwargs=kwargs)
[32m-&gt; [39m[32m2291[39m result = [30;43mop[39;49m[30;43m.[39;49m[30;43magg[39;49m[30;43m([39;49m[30;43m)[39;49m
[32m   2292[39m [38;5;28;01mif[39;00m [38;5;129;01mnot[39;00m is_dict_like(func) [38;5;129;01mand[39;00m result [38;5;129;01mis[39;00m [38;5;129;01mnot[39;00m [38;5;28;01mNone[39;00m:
[32m   2293[39m     [38;5;66;03m# GH #52849[39;00m
[32m   2294[39m     [38;5;28;01mif[39;00m [38;5;129;01mnot[39;00m [38;5;28mself[39m.as_index [38;5;129;01mand[39;00m is_list_like(func):

[36mFile [39m[32m~/Projects/prj059-datatrax_jcr/.venv/lib/python3.13/site-packages/pandas/core/apply.py:294[39m, in [36mApply.agg[39m[34m(self)[39m
[32m    291[39m     [38;5;28;01mreturn[39;00m [38;5;28mself[39m.apply_str()
[32m    293[39m [38;5;28;01mif[39;00m is_dict_like(func):
[32m--&gt; [39m[32m294[39m     [38;5;28;01mreturn[39;00m [30;43mself[39;49m[30;43m.[39;49m[30;43magg_dict_like[39;49m[30;43m([39;49m[30;43m)[39;49m
[32m    295[39m [38;5;28;01melif[39;00m is_list_like(func):
[32m    296[39m     [38;5;66;03m# we require a list, but not a &#39;str&#39;[39;00m
[32m    297[39m     [38;5;28;01mreturn[39;00m [38;5;28mself[39m.agg_list_like()

[36mFile [39m[32m~/Projects/prj059-datatrax_jcr/.venv/lib/python3.13/site-packages/pandas/core/apply.py:511[39m, in [36mApply.agg_dict_like[39m[34m(self)[39m
[32m    503[39m [38;5;28;01mdef[39;00m[38;5;250m [39m[34magg_dict_like[39m([38;5;28mself[39m) -&gt; DataFrame | Series:
[32m    504[39m [38;5;250m    [39m[33;03m&quot;&quot;&quot;[39;00m
[32m    505[39m [33;03m    Compute aggregation in the case of a dict-like argument.[39;00m
[32m    506[39m 
[32m   (...)[39m[32m    509[39m [33;03m    Result of aggregation.[39;00m
[32m    510[39m [33;03m    &quot;&quot;&quot;[39;00m
[32m--&gt; [39m[32m511[39m     [38;5;28;01mreturn[39;00m [30;43mself[39;49m[30;43m.[39;49m[30;43magg_or_apply_dict_like[39;49m[30;43m([39;49m[30;43mop_name[39;49m[30;43m=[39;49m[30;43m&quot;[39;49m[30;43magg[39;49m[30;43m&quot;[39;49m[30;43m)[39;49m

[36mFile [39m[32m~/Projects/prj059-datatrax_jcr/.venv/lib/python3.13/site-packages/pandas/core/apply.py:1677[39m, in [36mGroupByApply.agg_or_apply_dict_like[39m[34m(self, op_name)[39m
[32m   1672[39m     kwargs.update({[33m&quot;[39m[33mengine[39m[33m&quot;[39m: engine, [33m&quot;[39m[33mengine_kwargs[39m[33m&quot;[39m: engine_kwargs})
[32m   1674[39m [38;5;28;01mwith[39;00m com.temp_setattr(
[32m   1675[39m     obj, [33m&quot;[39m[33mas_index[39m[33m&quot;[39m, [38;5;28;01mTrue[39;00m, condition=[38;5;28mhasattr[39m(obj, [33m&quot;[39m[33mas_index[39m[33m&quot;[39m)
[32m   1676[39m ):
[32m-&gt; [39m[32m1677[39m     result_index, result_data = [30;43mself[39;49m[30;43m.[39;49m[30;43mcompute_dict_like[39;49m[30;43m([39;49m
[32m   1678[39m [30;43m        [39;49m[30;43mop_name[39;49m[30;43m,[39;49m[30;43m [39;49m[30;43mselected_obj[39;49m[30;43m,[39;49m[30;43m [39;49m[30;43mselection[39;49m[30;43m,[39;49m[30;43m [39;49m[30;43mkwargs[39;49m
[32m   1679[39m [30;43m    [39;49m[30;43m)[39;49m
[32m   1680[39m result = [38;5;28mself[39m.wrap_results_dict_like(selected_obj, result_index, result_data)
[32m   1681[39m [38;5;28;01mreturn[39;00m result

[36mFile [39m[32m~/Projects/prj059-datatrax_jcr/.venv/lib/python3.13/site-packages/pandas/core/apply.py:550[39m, in [36mApply.compute_dict_like[39m[34m(self, op_name, selected_obj, selection, kwargs)[39m
[32m    548[39m is_groupby = [38;5;28misinstance[39m(obj, (DataFrameGroupBy, SeriesGroupBy))
[32m    549[39m func = cast(AggFuncTypeDict, [38;5;28mself[39m.func)
[32m--&gt; [39m[32m550[39m func = [30;43mself[39;49m[30;43m.[39;49m[30;43mnormalize_dictlike_arg[39;49m[30;43m([39;49m[30;43mop_name[39;49m[30;43m,[39;49m[30;43m [39;49m[30;43mselected_obj[39;49m[30;43m,[39;49m[30;43m [39;49m[30;43mfunc[39;49m[30;43m)[39;49m
[32m    552[39m is_non_unique_col = (
[32m    553[39m     selected_obj.ndim == [32m2[39m
[32m    554[39m     [38;5;129;01mand[39;00m selected_obj.columns.nunique() &lt; [38;5;28mlen[39m(selected_obj.columns)
[32m    555[39m )
[32m    557[39m [38;5;28;01mif[39;00m selected_obj.ndim == [32m1[39m:
[32m    558[39m     [38;5;66;03m# key only used for output[39;00m

[36mFile [39m[32m~/Projects/prj059-datatrax_jcr/.venv/lib/python3.13/site-packages/pandas/core/apply.py:762[39m, in [36mApply.normalize_dictlike_arg[39m[34m(self, how, obj, func)[39m
[32m    759[39m     cols = Index([38;5;28mlist[39m(func.keys())).difference(obj.columns, sort=[38;5;28;01mTrue[39;00m)
[32m    760[39m     [38;5;28;01mif[39;00m [38;5;28mlen[39m(cols) &gt; [32m0[39m:
[32m    761[39m         [38;5;66;03m# GH 58474[39;00m
[32m--&gt; [39m[32m762[39m         [38;5;28;01mraise[39;00m [38;5;167;01mKeyError[39;00m([33mf[39m[33m&quot;[39m[33mLabel(s) [39m[38;5;132;01m{[39;00m[38;5;28mlist[39m(cols)[38;5;132;01m}[39;00m[33m do not exist[39m[33m&quot;[39m)
[32m    764[39m aggregator_types = ([38;5;28mlist[39m, [38;5;28mtuple[39m, [38;5;28mdict[39m)
[32m    766[39m [38;5;66;03m# if we have a dict of any non-scalars[39;00m
[32m    767[39m [38;5;66;03m# eg. {&#39;A&#39; : [&#39;mean&#39;]}, normalize all to[39;00m
[32m    768[39m [38;5;66;03m# be list-likes[39;00m
[32m    769[39m [38;5;66;03m# Cannot use func.values() because arg may be a Series[39;00m

[31mKeyError[39m: &quot;Label(s) [&#39;race_day_goingstick_uploaded&#39;] do not exist&quot;</a:t></a:r></a:p></p:txBody></p:sp><p:sp><p:nvSpPr><p:cNvPr id="4" name="Date Placeholder 3"><a:extLst><a:ext uri="{FF2B5EF4-FFF2-40B4-BE49-F238E27FC236}"><a16:creationId id="{6DDA9E1D-E072-EF57-6E1E-72426EB27AA9}" xmlns:a16="http://schemas.microsoft.com/office/drawing/2014/main" /></a:ext></a:extLst></p:cNvPr><p:cNvSpPr><a:spLocks noGrp="1" /></p:cNvSpPr><p:nvPr><p:ph idx="10" sz="half" type="dt" /></p:nvPr></p:nvSpPr><p:spPr><a:xfrm><a:off x="838200" y="6356350" /><a:ext cx="2743200" cy="365125" /></a:xfrm><a:prstGeom prst="rect"><a:avLst /></a:prstGeom></p:spPr><p:txBody><a:bodyPr /><a:lstStyle /><a:p><a:fld id="{196260E2-3096-304A-B2F3-5D55A1809FAA}" type="datetime1"><a:rPr lang="en-GB" smtClean="0" /><a:t>11/02/2026</a:t></a:fld><a:endParaRPr lang="en-US" /></a:p></p:txBody></p:sp><p:sp><p:nvSpPr><p:cNvPr id="5" name="Footer Placeholder 4"><a:extLst><a:ext uri="{FF2B5EF4-FFF2-40B4-BE49-F238E27FC236}"><a16:creationId id="{77A6DD6A-4027-AB08-2118-EA5EB8ADF964}" xmlns:a16="http://schemas.microsoft.com/office/drawing/2014/main" /></a:ext></a:extLst></p:cNvPr><p:cNvSpPr><a:spLocks noGrp="1" /></p:cNvSpPr><p:nvPr><p:ph idx="11" sz="quarter" type="ftr" /></p:nvPr></p:nvSpPr><p:spPr><a:xfrm><a:off x="4038600" y="6356350" /><a:ext cx="4114800" cy="365125" /></a:xfrm><a:prstGeom prst="rect"><a:avLst /></a:prstGeom></p:spPr><p:txBody><a:bodyPr /><a:lstStyle /><a:p><a:endParaRPr lang="en-US" /></a:p></p:txBody></p:sp><p:sp><p:nvSpPr><p:cNvPr id="6" name="Slide Number Placeholder 5"><a:extLst><a:ext uri="{FF2B5EF4-FFF2-40B4-BE49-F238E27FC236}"><a16:creationId id="{6EF6F7C6-AEC7-6D28-92F3-1645A79AE988}" xmlns:a16="http://schemas.microsoft.com/office/drawing/2014/main" /></a:ext></a:extLst></p:cNvPr><p:cNvSpPr><a:spLocks noGrp="1" /></p:cNvSpPr><p:nvPr><p:ph idx="12" sz="quarter" type="sldNum" /></p:nvPr></p:nvSpPr><p:spPr><a:xfrm><a:off x="11353800" y="5721072" /><a:ext cx="457200" cy="365125" /></a:xfrm><a:prstGeom prst="rect"><a:avLst /></a:prstGeom></p:spPr><p:txBody><a:bodyPr /><a:lstStyle /><a:p><a:fld id="{57B9ED84-8EE0-E941-B546-0ADBCA54B8B6}" type="slidenum"><a:rPr lang="en-US" smtClean="0" /><a:t>‹#›</a:t></a:fld><a:endParaRPr lang="en-US" /></a:p></p:txBody></p:sp></p:spTree></p:cSld>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Meeting reporting status</a:t>
            </a:r>
          </a:p>
        </p:txBody>
      </p:sp>
      <p:pic>
        <p:nvPicPr>
          <p:cNvPr descr="jcr_update_2026_files/figure-pptx/cell-4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73300" y="1816100"/>
            <a:ext cx="76327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11/02/2026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GoingStick measurements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 values by year and discipline</a:t>
            </a:r>
          </a:p>
        </p:txBody>
      </p:sp>
      <p:pic>
        <p:nvPicPr>
          <p:cNvPr descr="jcr_update_2026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0700" y="1816100"/>
            <a:ext cx="85979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11/02/2026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Index, penetration and shear by official going</a:t>
            </a:r>
          </a:p>
        </p:txBody>
      </p:sp>
      <p:pic>
        <p:nvPicPr>
          <p:cNvPr descr="jcr_update_2026_files/figure-pptx/cell-6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92500" y="1816100"/>
            <a:ext cx="52070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11/02/2026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><a:extLst><a:ext uri="{FF2B5EF4-FFF2-40B4-BE49-F238E27FC236}"><a16:creationId id="{DEA36FEF-8166-DFEA-7A16-A210ABE8CD24}" xmlns:a16="http://schemas.microsoft.com/office/drawing/2014/main" /></a:ext></a:extLst></p:cNvPr><p:cNvSpPr><a:spLocks noGrp="1" /></p:cNvSpPr><p:nvPr><p:ph type="title" /></p:nvPr></p:nvSpPr><p:spPr /><p:txBody><a:bodyPr /><a:lstStyle /><a:p><a:pPr lvl="0" indent="0" marL="0"><a:buNone /></a:pPr><a:r><a:rPr /><a:t>Spatial summaries by configured section and zone</a:t></a:r></a:p></p:txBody></p:sp><p:sp><p:nvSpPr><p:cNvPr id="3" name="Content Placeholder 2"><a:extLst><a:ext uri="{FF2B5EF4-FFF2-40B4-BE49-F238E27FC236}"><a16:creationId id="{02CF7EA6-3A8F-357B-534D-3A1AFF5072A5}" xmlns:a16="http://schemas.microsoft.com/office/drawing/2014/main" /></a:ext></a:extLst></p:cNvPr><p:cNvSpPr><a:spLocks noGrp="1" /></p:cNvSpPr><p:nvPr><p:ph idx="1" /></p:nvPr></p:nvSpPr><p:spPr /><p:txBody><a:bodyPr /><a:lstStyle /><a:p><a:pPr lvl="0" indent="0"><a:buNone /></a:pPr><a:r><a:rPr><a:latin typeface="Courier" /></a:rPr><a:t>KeyError: &#39;map_label&#39;
[31m---------------------------------------------------------------------------[39m
[31mKeyError[39m                                  Traceback (most recent call last)
[36mCell[39m[36m [39m[32mIn[6][39m[32m, line 4[39m
[32m      1[39m spatial = spatial_readings.dropna(subset=[[33m&quot;index&quot;[39m]).copy()
[32m      2[39m section_summary = (
[32m      3[39m     spatial.dropna(subset=[[33m&quot;section_label&quot;[39m])
[32m----&gt; [39m[32m4[39m     .groupby([[33m&quot;course_id&quot;[39m, [33m&quot;map_id&quot;[39m, [33m&quot;map_label&quot;[39m, [33m&quot;section_label&quot;[39m], dropna=[38;5;28;01mFalse[39;00m)
[32m      5[39m     .agg(readings=([33m&quot;index&quot;[39m, [33m&quot;size&quot;[39m), mean_index=([33m&quot;index&quot;[39m, [33m&quot;mean&quot;[39m), median_index=([33m&quot;index&quot;[39m, [33m&quot;median&quot;[39m))
[32m      6[39m     .reset_index()
[32m      7[39m     .sort_values([[33m&quot;course_id&quot;[39m, [33m&quot;map_id&quot;[39m, [33m&quot;section_label&quot;[39m])

[36mFile [39m[32m~/Projects/prj059-datatrax_jcr/.venv/lib/python3.13/site-packages/pandas/util/_decorators.py:336[39m, in [36mdeprecate_nonkeyword_arguments.&lt;locals&gt;.decorate.&lt;locals&gt;.wrapper[39m[34m(*args, **kwargs)[39m
[32m    330[39m [38;5;28;01mif[39;00m [38;5;28mlen[39m(args) &gt; num_allow_args:
[32m    331[39m     warnings.warn(
[32m    332[39m         msg.format(arguments=_format_argument_list(allow_args)),
[32m    333[39m         klass,
[32m    334[39m         stacklevel=find_stack_level(),
[32m    335[39m     )
[32m--&gt; [39m[32m336[39m [38;5;28;01mreturn[39;00m [30;43mfunc[39;49m[30;43m([39;49m[30;43m*[39;49m[30;43margs[39;49m[30;43m,[39;49m[30;43m [39;49m[30;43m*[39;49m[30;43m*[39;49m[30;43mkwargs[39;49m[30;43m)[39;49m

[36mFile [39m[32m~/Projects/prj059-datatrax_jcr/.venv/lib/python3.13/site-packages/pandas/core/frame.py:10835[39m, in [36mDataFrame.groupby[39m[34m(self, by, level, as_index, sort, group_keys, observed, dropna)[39m
[32m  10831[39m 
[32m  10832[39m         [38;5;28;01mif[39;00m level [38;5;28;01mis[39;00m [38;5;28;01mNone[39;00m [38;5;28;01mand[39;00m by [38;5;28;01mis[39;00m [38;5;28;01mNone[39;00m:
[32m  10833[39m             [38;5;28;01mraise[39;00m TypeError([33m&quot;You have to supply one of &#39;by&#39; and &#39;level&#39;&quot;[39m)
[32m  10834[39m 
[32m&gt; [39m[32m10835[39m         return DataFrameGroupBy(
[32m  10836[39m             obj=self,
[32m  10837[39m             keys=by,
[32m  10838[39m             level=level,

[36mFile [39m[32m~/Projects/prj059-datatrax_jcr/.venv/lib/python3.13/site-packages/pandas/core/groupby/groupby.py:1095[39m, in [36mGroupBy.__init__[39m[34m(self, obj, keys, level, grouper, exclusions, selection, as_index, sort, group_keys, observed, dropna)[39m
[32m   1092[39m [38;5;28mself[39m.dropna = dropna
[32m   1094[39m [38;5;28;01mif[39;00m grouper [38;5;129;01mis[39;00m [38;5;28;01mNone[39;00m:
[32m-&gt; [39m[32m1095[39m     grouper, exclusions, obj = [30;43mget_grouper[39;49m[30;43m([39;49m
[32m   1096[39m [30;43m        [39;49m[30;43mobj[39;49m[30;43m,[39;49m
[32m   1097[39m [30;43m        [39;49m[30;43mkeys[39;49m[30;43m,[39;49m
[32m   1098[39m [30;43m        [39;49m[30;43mlevel[39;49m[30;43m=[39;49m[30;43mlevel[39;49m[30;43m,[39;49m
[32m   1099[39m [30;43m        [39;49m[30;43msort[39;49m[30;43m=[39;49m[30;43msort[39;49m[30;43m,[39;49m
[32m   1100[39m [30;43m        [39;49m[30;43mobserved[39;49m[30;43m=[39;49m[30;43mobserved[39;49m[30;43m,[39;49m
[32m   1101[39m [30;43m        [39;49m[30;43mdropna[39;49m[30;43m=[39;49m[30;43mself[39;49m[30;43m.[39;49m[30;43mdropna[39;49m[30;43m,[39;49m
[32m   1102[39m [30;43m    [39;49m[30;43m)[39;49m
[32m   1104[39m [38;5;28mself[39m.observed = observed
[32m   1105[39m [38;5;28mself[39m.obj = obj

[36mFile [39m[32m~/Projects/prj059-datatrax_jcr/.venv/lib/python3.13/site-packages/pandas/core/groupby/grouper.py:901[39m, in [36mget_grouper[39m[34m(obj, key, level, sort, observed, validate, dropna)[39m
[32m    899[39m         in_axis, level, gpr = [38;5;28;01mFalse[39;00m, gpr, [38;5;28;01mNone[39;00m
[32m    900[39m     [38;5;28;01melse[39;00m:
[32m--&gt; [39m[32m901[39m         [38;5;28;01mraise[39;00m [38;5;167;01mKeyError[39;00m(gpr)
[32m    902[39m [38;5;28;01melif[39;00m [38;5;28misinstance[39m(gpr, Grouper) [38;5;129;01mand[39;00m gpr.key [38;5;129;01mis[39;00m [38;5;129;01mnot[39;00m [38;5;28;01mNone[39;00m:
[32m    903[39m     [38;5;66;03m# Add key to exclusions[39;00m
[32m    904[39m     exclusions.add(gpr.key)

[31mKeyError[39m: &#39;map_label&#39;</a:t></a:r></a:p></p:txBody></p:sp><p:sp><p:nvSpPr><p:cNvPr id="4" name="Date Placeholder 3"><a:extLst><a:ext uri="{FF2B5EF4-FFF2-40B4-BE49-F238E27FC236}"><a16:creationId id="{6DDA9E1D-E072-EF57-6E1E-72426EB27AA9}" xmlns:a16="http://schemas.microsoft.com/office/drawing/2014/main" /></a:ext></a:extLst></p:cNvPr><p:cNvSpPr><a:spLocks noGrp="1" /></p:cNvSpPr><p:nvPr><p:ph idx="10" sz="half" type="dt" /></p:nvPr></p:nvSpPr><p:spPr><a:xfrm><a:off x="838200" y="6356350" /><a:ext cx="2743200" cy="365125" /></a:xfrm><a:prstGeom prst="rect"><a:avLst /></a:prstGeom></p:spPr><p:txBody><a:bodyPr /><a:lstStyle /><a:p><a:fld id="{196260E2-3096-304A-B2F3-5D55A1809FAA}" type="datetime1"><a:rPr lang="en-GB" smtClean="0" /><a:t>11/02/2026</a:t></a:fld><a:endParaRPr lang="en-US" /></a:p></p:txBody></p:sp><p:sp><p:nvSpPr><p:cNvPr id="5" name="Footer Placeholder 4"><a:extLst><a:ext uri="{FF2B5EF4-FFF2-40B4-BE49-F238E27FC236}"><a16:creationId id="{77A6DD6A-4027-AB08-2118-EA5EB8ADF964}" xmlns:a16="http://schemas.microsoft.com/office/drawing/2014/main" /></a:ext></a:extLst></p:cNvPr><p:cNvSpPr><a:spLocks noGrp="1" /></p:cNvSpPr><p:nvPr><p:ph idx="11" sz="quarter" type="ftr" /></p:nvPr></p:nvSpPr><p:spPr><a:xfrm><a:off x="4038600" y="6356350" /><a:ext cx="4114800" cy="365125" /></a:xfrm><a:prstGeom prst="rect"><a:avLst /></a:prstGeom></p:spPr><p:txBody><a:bodyPr /><a:lstStyle /><a:p><a:endParaRPr lang="en-US" /></a:p></p:txBody></p:sp><p:sp><p:nvSpPr><p:cNvPr id="6" name="Slide Number Placeholder 5"><a:extLst><a:ext uri="{FF2B5EF4-FFF2-40B4-BE49-F238E27FC236}"><a16:creationId id="{6EF6F7C6-AEC7-6D28-92F3-1645A79AE988}" xmlns:a16="http://schemas.microsoft.com/office/drawing/2014/main" /></a:ext></a:extLst></p:cNvPr><p:cNvSpPr><a:spLocks noGrp="1" /></p:cNvSpPr><p:nvPr><p:ph idx="12" sz="quarter" type="sldNum" /></p:nvPr></p:nvSpPr><p:spPr><a:xfrm><a:off x="11353800" y="5721072" /><a:ext cx="457200" cy="365125" /></a:xfrm><a:prstGeom prst="rect"><a:avLst /></a:prstGeom></p:spPr><p:txBody><a:bodyPr /><a:lstStyle /><a:p><a:fld id="{57B9ED84-8EE0-E941-B546-0ADBCA54B8B6}" type="slidenum"><a:rPr lang="en-US" smtClean="0" /><a:t>‹#›</a:t></a:fld><a:endParaRPr lang="en-US" /></a:p></p:txBody></p:sp></p:spTree></p:cSld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Daily shear trend</a:t>
            </a:r>
          </a:p>
        </p:txBody>
      </p:sp>
      <p:pic>
        <p:nvPicPr>
          <p:cNvPr descr="jcr_update_2026_files/figure-pptx/cell-8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816100"/>
            <a:ext cx="90805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11/02/2026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Poppins SemiBold</vt:lpstr>
      <vt:lpstr>Arial</vt:lpstr>
      <vt:lpstr>Roboto</vt:lpstr>
      <vt:lpstr>Roboto Medium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JCR GoingStick Analysis</dc:title>
  <dc:creator/>
  <cp:keywords/>
  <dcterms:created xsi:type="dcterms:W3CDTF">2026-10-12T11:41:04Z</dcterms:created>
  <dcterms:modified xsi:type="dcterms:W3CDTF">2026-10-12T11:41:04Z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jupyter">
    <vt:lpwstr>python3</vt:lpwstr>
  </property>
  <property fmtid="{D5CDD505-2E9C-101B-9397-08002B2CF9AE}" pid="8" name="labels">
    <vt:lpwstr/>
  </property>
  <property fmtid="{D5CDD505-2E9C-101B-9397-08002B2CF9AE}" pid="9" name="slide-number">
    <vt:lpwstr>True</vt:lpwstr>
  </property>
  <property fmtid="{D5CDD505-2E9C-101B-9397-08002B2CF9AE}" pid="10" name="toc-title">
    <vt:lpwstr>Table of contents</vt:lpwstr>
  </property>
</Properties>
</file>